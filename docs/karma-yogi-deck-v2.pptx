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2801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 YOGI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256032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5146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accountability platform for India's 10M+ competitive exam aspirants.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E8A"/>
                </a:solidFill>
              </a:rPr>
              <a:t>Anish Guruvelli  ·  Product Review  ·  May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223760" y="4526280"/>
            <a:ext cx="1554480" cy="292608"/>
          </a:xfrm>
          <a:prstGeom prst="roundRect">
            <a:avLst>
              <a:gd name="adj" fmla="val 37500"/>
            </a:avLst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0" y="4526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Version 1.0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4B5E8A"/>
                </a:solidFill>
              </a:rPr>
              <a:t>EXECUTIVE SUMMARY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E8A"/>
                </a:solidFill>
              </a:rPr>
              <a:t>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64008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34747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60-Second Brief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023360" cy="1737360"/>
          </a:xfrm>
          <a:prstGeom prst="rect">
            <a:avLst/>
          </a:prstGeom>
          <a:solidFill>
            <a:srgbClr val="1A2E5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60120"/>
            <a:ext cx="64008" cy="1737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DC2626"/>
                </a:solidFill>
              </a:rPr>
              <a:t>PROBLEM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1792" y="1307592"/>
            <a:ext cx="3657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10M+ students study blind — effort is invisible, motivation decays in isolation, and planning never connects to execution.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1737360"/>
          </a:xfrm>
          <a:prstGeom prst="rect">
            <a:avLst/>
          </a:prstGeom>
          <a:solidFill>
            <a:srgbClr val="1A2E5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60120"/>
            <a:ext cx="64008" cy="1737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97316"/>
                </a:solidFill>
              </a:rPr>
              <a:t>WHY NOW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28032" y="1307592"/>
            <a:ext cx="3657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penetration + fierce exam competition = a generation of students who live on their phones and need accountability.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1737360"/>
          </a:xfrm>
          <a:prstGeom prst="rect">
            <a:avLst/>
          </a:prstGeom>
          <a:solidFill>
            <a:srgbClr val="1A2E5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80360"/>
            <a:ext cx="64008" cy="1737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891B2"/>
                </a:solidFill>
              </a:rPr>
              <a:t>SOLUTION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1792" y="3227832"/>
            <a:ext cx="3657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session logging + subject analytics + social leaderboard + exam countdown. Mobile-first, beautifully themed, sub-15s friction.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023360" cy="1737360"/>
          </a:xfrm>
          <a:prstGeom prst="rect">
            <a:avLst/>
          </a:prstGeom>
          <a:solidFill>
            <a:srgbClr val="1A2E5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880360"/>
            <a:ext cx="64008" cy="1737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6A34A"/>
                </a:solidFill>
              </a:rPr>
              <a:t>IMPACT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28032" y="3227832"/>
            <a:ext cx="3657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≥40% D7 retention, ≥35% social adoption, ≥60% first-week logging. Monetisation unlocks at scale via AI plans + institutional tier.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94A3B8"/>
                </a:solidFill>
              </a:rPr>
              <a:t>PROBLEM LANDSCAPE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64008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3474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Three Compounding Failures Keep Students Stuck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0241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7316"/>
                </a:solidFill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21792" y="13898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Effort is Invisible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" y="1792224"/>
            <a:ext cx="2331720" cy="36576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9019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4A3B8"/>
                </a:solidFill>
              </a:rPr>
              <a:t>SYMPTOM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21792" y="20848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Students feel busy but can't quantify actual focused hours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1792" y="271576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4A3B8"/>
                </a:solidFill>
              </a:rPr>
              <a:t>IMPACT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21792" y="28986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No feedback loop → burnout without progress signal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" y="3429000"/>
            <a:ext cx="233172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447288"/>
            <a:ext cx="2267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2400E"/>
                </a:solidFill>
              </a:rPr>
              <a:t>~60% of aspirants quit prep in Year 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10128" y="96012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0" y="10241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7316"/>
                </a:solidFill>
              </a:rPr>
              <a:t>02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474720" y="13898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Motivation Decays in Isolation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74720" y="1792224"/>
            <a:ext cx="2331720" cy="36576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9019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4A3B8"/>
                </a:solidFill>
              </a:rPr>
              <a:t>SYMPTOM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74720" y="20848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No accountability partner, no social proof of effort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74720" y="271576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4A3B8"/>
                </a:solidFill>
              </a:rPr>
              <a:t>IMPACT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474720" y="28986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Dropout spikes during low-motivation weeks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0" y="3429000"/>
            <a:ext cx="233172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11296" y="3447288"/>
            <a:ext cx="2267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2400E"/>
                </a:solidFill>
              </a:rPr>
              <a:t>Avg prep completion rate &lt; 30% for self-studiers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63056" y="96012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27648" y="10241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7316"/>
                </a:solidFill>
              </a:rPr>
              <a:t>03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327648" y="13898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Planning ≠ Execution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27648" y="1792224"/>
            <a:ext cx="2331720" cy="36576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27648" y="19019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4A3B8"/>
                </a:solidFill>
              </a:rPr>
              <a:t>SYMPTOM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327648" y="20848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Ambitious schedules, zero visibility into where time went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27648" y="271576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4A3B8"/>
                </a:solidFill>
              </a:rPr>
              <a:t>IMPACT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327648" y="28986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Repeated under-performance on mock tests &amp; milestones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27648" y="3429000"/>
            <a:ext cx="233172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4224" y="3447288"/>
            <a:ext cx="2267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2400E"/>
                </a:solidFill>
              </a:rPr>
              <a:t>Subject neglect is the #1 self-reported failure mode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94A3B8"/>
                </a:solidFill>
              </a:rPr>
              <a:t>USER &amp; MARKET INSIGHT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64008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3474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One Clear ICP. A Market Too Large to Ignore.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64008" cy="8046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0" y="1033272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F97316">
              <a:alpha val="1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03327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7316"/>
                </a:solidFill>
              </a:rPr>
              <a:t>PRIMARY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40080" y="10149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Aditya, 24 — The Aspirant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3075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UPSC prep · 10-14 hrs/day · 8 subjects · needs streak + leaderboard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874520"/>
            <a:ext cx="64008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947672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94767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91B2"/>
                </a:solidFill>
              </a:rPr>
              <a:t>SECONDARY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40080" y="19293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Priya, 21 — The University Student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2219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Engineering · Pomodoro user · heatmap + weekly goal ring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788920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788920"/>
            <a:ext cx="64008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2862072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286207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</a:rPr>
              <a:t>SECONDARY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40080" y="28437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Rohan, 22 — The Social Studier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1363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CAT prep · friend sessions + leaderboard-motivated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703320"/>
            <a:ext cx="64008" cy="8046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0" y="3776472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94A3B8">
              <a:alpha val="15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377647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TERTIARY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40080" y="37581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Ananya, 19 — The Casual Tracker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0507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College 1st year · habit building · referred by friend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760720" y="9601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</a:rPr>
              <a:t>MARKET OPPORTUNITY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760720" y="1261872"/>
            <a:ext cx="3063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897880" y="13167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97316"/>
                </a:solidFill>
              </a:rPr>
              <a:t>10M+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897880" y="16824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Active test-takers in India/yr (UPSC, CAT, GATE, JEE, NEET, CA)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760720" y="2157984"/>
            <a:ext cx="3063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897880" y="2212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891B2"/>
                </a:solidFill>
              </a:rPr>
              <a:t>₹8,500Cr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5897880" y="25786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EdTech test-prep market size — India, 2025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760720" y="3054096"/>
            <a:ext cx="3063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89788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C3AED"/>
                </a:solidFill>
              </a:rPr>
              <a:t>85%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5897880" y="3474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Smartphone-primary learners in this demographic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760720" y="3950208"/>
            <a:ext cx="3063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897880" y="4005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A34A"/>
                </a:solidFill>
              </a:rPr>
              <a:t>Android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5897880" y="43708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Primary surface · Play Store · Capacitor wrapper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94A3B8"/>
                </a:solidFill>
              </a:rPr>
              <a:t>STRATEGIC GAP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64008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3474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Every Existing Tool Is Half a Solution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201168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96012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Tool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118872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23744" y="96012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Focus Timer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0" y="960120"/>
            <a:ext cx="141732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12464" y="960120"/>
            <a:ext cx="1362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Subject Analytics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74920" y="960120"/>
            <a:ext cx="118872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9784" y="96012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Social Layer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63640" y="960120"/>
            <a:ext cx="12344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8504" y="960120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Exam Context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98080" y="960120"/>
            <a:ext cx="118872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52944" y="96012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Mobile-First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32588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132588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Forest / Be Focused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132588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3744" y="132588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0" y="132588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12464" y="132588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✗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74920" y="132588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9784" y="132588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✗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63640" y="1325880"/>
            <a:ext cx="1234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8504" y="1325880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✗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498080" y="132588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52944" y="132588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1828800"/>
            <a:ext cx="20116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" y="182880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Notion / Spreadsheets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68880" y="1828800"/>
            <a:ext cx="118872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23744" y="182880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✗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657600" y="1828800"/>
            <a:ext cx="141732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12464" y="182880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Partial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74920" y="1828800"/>
            <a:ext cx="118872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9784" y="182880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✗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63640" y="1828800"/>
            <a:ext cx="12344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18504" y="1828800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✗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498080" y="1828800"/>
            <a:ext cx="118872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52944" y="182880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✗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" y="233172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" y="233172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Toggl / Clockify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468880" y="233172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23744" y="233172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657600" y="233172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12464" y="233172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074920" y="233172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9784" y="233172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✗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263640" y="2331720"/>
            <a:ext cx="1234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18504" y="2331720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✗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498080" y="233172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52944" y="233172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✗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57200" y="2834640"/>
            <a:ext cx="20116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2064" y="283464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StudyTogether.com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468880" y="2834640"/>
            <a:ext cx="118872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23744" y="283464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✗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3657600" y="2834640"/>
            <a:ext cx="141732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12464" y="283464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✗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074920" y="2834640"/>
            <a:ext cx="118872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29784" y="283464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263640" y="2834640"/>
            <a:ext cx="12344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18504" y="2834640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✗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7498080" y="2834640"/>
            <a:ext cx="118872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52944" y="283464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457200" y="333756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2064" y="333756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Physical Planners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468880" y="333756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23744" y="333756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✗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3657600" y="333756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712464" y="333756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✗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5074920" y="333756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29784" y="333756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✗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6263640" y="3337560"/>
            <a:ext cx="1234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18504" y="3337560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Partial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498080" y="333756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52944" y="333756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✗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457200" y="3840480"/>
            <a:ext cx="201168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12064" y="384048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Karma Yogi ★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2468880" y="3840480"/>
            <a:ext cx="118872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523744" y="384048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3657600" y="3840480"/>
            <a:ext cx="141732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712464" y="384048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5074920" y="3840480"/>
            <a:ext cx="118872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129784" y="384048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6263640" y="3840480"/>
            <a:ext cx="123444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18504" y="3840480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7498080" y="3840480"/>
            <a:ext cx="118872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552944" y="384048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457200" y="3840480"/>
            <a:ext cx="54864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57200" y="4187952"/>
            <a:ext cx="8229600" cy="713232"/>
          </a:xfrm>
          <a:prstGeom prst="rect">
            <a:avLst/>
          </a:prstGeom>
          <a:solidFill>
            <a:srgbClr val="FFF7ED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457200" y="4187952"/>
            <a:ext cx="64008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40080" y="4279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White Space:  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1920240" y="42793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No app combines frictionless mobile logging + subject-level analytics + social accountability + exam-framing in a single, beautiful, student-first experience.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4B5E8A"/>
                </a:solidFill>
              </a:rPr>
              <a:t>PRODUCT VISION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E8A"/>
                </a:solidFill>
              </a:rPr>
              <a:t>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Become the de-facto study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accountability platform for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India's competitive exam aspirants.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5B4FC"/>
                </a:solidFill>
              </a:rPr>
              <a:t>The app every serious student has open alongside their textbook.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23560" y="457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4B5E8A"/>
                </a:solidFill>
              </a:rPr>
              <a:t>PRODUCT PRINCIPLES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623560" y="749808"/>
            <a:ext cx="3200400" cy="731520"/>
          </a:xfrm>
          <a:prstGeom prst="rect">
            <a:avLst/>
          </a:prstGeom>
          <a:solidFill>
            <a:srgbClr val="1A2E5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0" y="84124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0488" y="804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Sub-15s Logging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90488" y="10789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If it takes effort, users skip it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23560" y="1591056"/>
            <a:ext cx="3200400" cy="731520"/>
          </a:xfrm>
          <a:prstGeom prst="rect">
            <a:avLst/>
          </a:prstGeom>
          <a:solidFill>
            <a:srgbClr val="1A2E5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1682496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90488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Legible at a Glance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90488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One screen = full study status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23560" y="2432304"/>
            <a:ext cx="3200400" cy="731520"/>
          </a:xfrm>
          <a:prstGeom prst="rect">
            <a:avLst/>
          </a:prstGeom>
          <a:solidFill>
            <a:srgbClr val="1A2E5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252374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90488" y="2487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Accountability, Not Gamification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0488" y="27614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Real social pressure, not cheap points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23560" y="3273552"/>
            <a:ext cx="3200400" cy="731520"/>
          </a:xfrm>
          <a:prstGeom prst="rect">
            <a:avLst/>
          </a:prstGeom>
          <a:solidFill>
            <a:srgbClr val="1A2E5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3364992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90488" y="33284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Privacy by Default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0488" y="36027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User controls what others see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23560" y="4114800"/>
            <a:ext cx="3200400" cy="731520"/>
          </a:xfrm>
          <a:prstGeom prst="rect">
            <a:avLst/>
          </a:prstGeom>
          <a:solidFill>
            <a:srgbClr val="1A2E5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42062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📶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90488" y="4169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Offline-Tolerant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90488" y="44439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Competitive zones have poor signal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337560"/>
            <a:ext cx="5029200" cy="1508760"/>
          </a:xfrm>
          <a:prstGeom prst="roundRect">
            <a:avLst>
              <a:gd name="adj" fmla="val 6061"/>
            </a:avLst>
          </a:prstGeom>
          <a:solidFill>
            <a:srgbClr val="F97316">
              <a:alpha val="12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40156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F97316"/>
                </a:solidFill>
              </a:rPr>
              <a:t>STRATEGIC MOAT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40080" y="36758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ED7AA"/>
                </a:solidFill>
              </a:rPr>
              <a:t>→  Social graph lock-in: friends + leaderboard = high switching cost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" y="40416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ED7AA"/>
                </a:solidFill>
              </a:rPr>
              <a:t>→  Data network effect: richer analytics as session history grows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44074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ED7AA"/>
                </a:solidFill>
              </a:rPr>
              <a:t>→  Exam-context framing: countdown + subject-gap view is unique to this domain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94A3B8"/>
                </a:solidFill>
              </a:rPr>
              <a:t>SOLUTION OVERVIEW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64008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3474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One App. Five Surfaces. Zero Friction.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26974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789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⏱  Study Timer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1435608"/>
            <a:ext cx="1234440" cy="219456"/>
          </a:xfrm>
          <a:prstGeom prst="roundRect">
            <a:avLst>
              <a:gd name="adj" fmla="val 41667"/>
            </a:avLst>
          </a:prstGeom>
          <a:solidFill>
            <a:srgbClr val="F97316">
              <a:alpha val="1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3560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</a:rPr>
              <a:t>CORE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94360" y="1719072"/>
            <a:ext cx="2441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Stopwatch + Pomodoro · server-authoritative timestamps · pause persistence across navigation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96012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960120"/>
            <a:ext cx="26974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0789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📊  Dashboard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1435608"/>
            <a:ext cx="1234440" cy="219456"/>
          </a:xfrm>
          <a:prstGeom prst="roundRect">
            <a:avLst>
              <a:gd name="adj" fmla="val 41667"/>
            </a:avLst>
          </a:prstGeom>
          <a:solidFill>
            <a:srgbClr val="F97316">
              <a:alpha val="1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43560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</a:rPr>
              <a:t>CORE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383280" y="1719072"/>
            <a:ext cx="2441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Today's hours · weekly goal ring · streak · subject breakdown · heatmap · exam countdown — all in one scroll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96012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960120"/>
            <a:ext cx="26974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0789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📈  Insights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1435608"/>
            <a:ext cx="1234440" cy="219456"/>
          </a:xfrm>
          <a:prstGeom prst="roundRect">
            <a:avLst>
              <a:gd name="adj" fmla="val 41667"/>
            </a:avLst>
          </a:prstGeom>
          <a:solidFill>
            <a:srgbClr val="F97316">
              <a:alpha val="1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43560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</a:rPr>
              <a:t>CORE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172200" y="1719072"/>
            <a:ext cx="2441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Weekly bar chart · subject pie · peak hour · best day · all-time stats. Tell students exactly where their time went.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642616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642616"/>
            <a:ext cx="26974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76148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🏆  Social + Leaderboard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" y="3118104"/>
            <a:ext cx="1234440" cy="219456"/>
          </a:xfrm>
          <a:prstGeom prst="roundRect">
            <a:avLst>
              <a:gd name="adj" fmla="val 41667"/>
            </a:avLst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11810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91B2"/>
                </a:solidFill>
              </a:rPr>
              <a:t>DIFFERENTIATOR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94360" y="3401568"/>
            <a:ext cx="2441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Friend discovery · weekly ranking · shared friend sessions · public profiles · privacy controls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46120" y="2642616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2642616"/>
            <a:ext cx="26974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276148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🎯  Goals &amp; Exam Countdown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383280" y="3118104"/>
            <a:ext cx="1234440" cy="219456"/>
          </a:xfrm>
          <a:prstGeom prst="roundRect">
            <a:avLst>
              <a:gd name="adj" fmla="val 41667"/>
            </a:avLst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11810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91B2"/>
                </a:solidFill>
              </a:rPr>
              <a:t>DIFFERENTIATOR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383280" y="3401568"/>
            <a:ext cx="2441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Weekly hour targets · named exam date · days-remaining card · goal crusher achievement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35040" y="2642616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2642616"/>
            <a:ext cx="26974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276148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🧩  Strategy Dashboard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72200" y="3118104"/>
            <a:ext cx="1234440" cy="219456"/>
          </a:xfrm>
          <a:prstGeom prst="roundRect">
            <a:avLst>
              <a:gd name="adj" fmla="val 41667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311810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</a:rPr>
              <a:t>COMING SOON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172200" y="3401568"/>
            <a:ext cx="2441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Gated beta · personalised study blueprint based on exam date, hours gap, and subject weakness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94A3B8"/>
                </a:solidFill>
              </a:rPr>
              <a:t>FEATURE PRIORITIZATION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64008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3474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MoSCoW Prioritization — What Ships First and Why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29184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96012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Feature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749040" y="960120"/>
            <a:ext cx="34747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03904" y="96012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Rationale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223760" y="960120"/>
            <a:ext cx="9144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78624" y="96012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Reach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138160" y="960120"/>
            <a:ext cx="82296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3024" y="96012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Effort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1234440"/>
            <a:ext cx="8503920" cy="256032"/>
          </a:xfrm>
          <a:prstGeom prst="rect">
            <a:avLst/>
          </a:prstGeom>
          <a:solidFill>
            <a:srgbClr val="FEF2F2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234440"/>
            <a:ext cx="54864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234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MUST HAVE — MVP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1490472"/>
            <a:ext cx="3291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14904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Session logging (timer + manual)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49040" y="1490472"/>
            <a:ext cx="3474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03904" y="14904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Core loop — no logging = no product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23760" y="1490472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78624" y="14904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High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138160" y="1490472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93024" y="149047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Low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1837944"/>
            <a:ext cx="32918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18379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Dashboard (streak, goal ring, heatmap)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49040" y="1837944"/>
            <a:ext cx="34747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03904" y="18379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Legibility is the value prop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23760" y="1837944"/>
            <a:ext cx="9144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78624" y="183794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High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138160" y="1837944"/>
            <a:ext cx="8229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93024" y="183794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Low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2185416"/>
            <a:ext cx="3291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21854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Subject management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49040" y="2185416"/>
            <a:ext cx="3474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03904" y="21854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Prerequisite for all analytics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23760" y="2185416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78624" y="218541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High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2185416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93024" y="218541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Low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2532888"/>
            <a:ext cx="32918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" y="25328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Auth (Email + Google OAuth)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749040" y="2532888"/>
            <a:ext cx="34747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03904" y="25328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Table stakes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223760" y="2532888"/>
            <a:ext cx="9144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78624" y="253288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High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138160" y="2532888"/>
            <a:ext cx="8229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93024" y="253288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Low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2880360"/>
            <a:ext cx="8503920" cy="256032"/>
          </a:xfrm>
          <a:prstGeom prst="rect">
            <a:avLst/>
          </a:prstGeom>
          <a:solidFill>
            <a:srgbClr val="FFF7ED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" y="2880360"/>
            <a:ext cx="54864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" y="2880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SHOULD HAVE — Phase 2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57200" y="3136392"/>
            <a:ext cx="3291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2064" y="31363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Friends + leaderboard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749040" y="3136392"/>
            <a:ext cx="3474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03904" y="31363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Primary retention driver post-core habit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223760" y="3136392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78624" y="31363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High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138160" y="3136392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193024" y="313639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Med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" y="3483864"/>
            <a:ext cx="32918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2064" y="34838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Friend sessions (shared logging)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749040" y="3483864"/>
            <a:ext cx="34747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03904" y="348386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Key differentiator for social cohort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223760" y="3483864"/>
            <a:ext cx="9144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78624" y="348386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High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138160" y="3483864"/>
            <a:ext cx="8229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193024" y="348386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Med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7200" y="3831336"/>
            <a:ext cx="3291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2064" y="38313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Insights page (charts, pie, peak hour)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749040" y="3831336"/>
            <a:ext cx="3474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803904" y="383133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Closes the feedback loop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223760" y="3831336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78624" y="38313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Med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8138160" y="3831336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193024" y="383133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Low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57200" y="4178808"/>
            <a:ext cx="32918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12064" y="41788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Achievements &amp; streaks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749040" y="4178808"/>
            <a:ext cx="34747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803904" y="41788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Habit reinforcement, drives D7 retention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7223760" y="4178808"/>
            <a:ext cx="9144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278624" y="417880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Med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8138160" y="4178808"/>
            <a:ext cx="8229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193024" y="417880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Low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57200" y="4526280"/>
            <a:ext cx="8503920" cy="256032"/>
          </a:xfrm>
          <a:prstGeom prst="rect">
            <a:avLst/>
          </a:prstGeom>
          <a:solidFill>
            <a:srgbClr val="F5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57200" y="4526280"/>
            <a:ext cx="54864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9436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COULD HAVE — Phase 3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57200" y="4782312"/>
            <a:ext cx="3291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12064" y="47823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Strategy Dashboard (gated beta)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3749040" y="4782312"/>
            <a:ext cx="3474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803904" y="4782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High potential, incomplete spec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7223760" y="4782312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278624" y="478231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High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8138160" y="4782312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193024" y="478231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High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57200" y="5129784"/>
            <a:ext cx="32918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12064" y="51297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Push notifications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3749040" y="5129784"/>
            <a:ext cx="34747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803904" y="51297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Streak reminders — high-impact, infra cost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7223760" y="5129784"/>
            <a:ext cx="9144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278624" y="512978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High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8138160" y="5129784"/>
            <a:ext cx="8229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193024" y="512978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Med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457200" y="5477256"/>
            <a:ext cx="3291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12064" y="54772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Offline mode + sync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3749040" y="5477256"/>
            <a:ext cx="3474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803904" y="54772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Critical for rural aspirants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7223760" y="5477256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278624" y="547725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Med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8138160" y="5477256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193024" y="547725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High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457200" y="5824728"/>
            <a:ext cx="850392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57200" y="5824728"/>
            <a:ext cx="54864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94360" y="5824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WON'T HAVE — v1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457200" y="6080760"/>
            <a:ext cx="3291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12064" y="6080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iOS App Store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3749040" y="6080760"/>
            <a:ext cx="3474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803904" y="60807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Capacitor-ready; submit after Android traction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7223760" y="6080760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278624" y="60807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Low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8138160" y="6080760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193024" y="60807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Med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457200" y="6428232"/>
            <a:ext cx="32918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12064" y="64282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AI study plan generation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3749040" y="6428232"/>
            <a:ext cx="34747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803904" y="64282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Needs data moat first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7223760" y="6428232"/>
            <a:ext cx="9144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278624" y="642823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High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8138160" y="6428232"/>
            <a:ext cx="8229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193024" y="642823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High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457200" y="6775704"/>
            <a:ext cx="3291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12064" y="67757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Institutional tier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3749040" y="6775704"/>
            <a:ext cx="3474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803904" y="67757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B2B motion; premature at seed scale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7223760" y="6775704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7278624" y="677570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High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8138160" y="6775704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8193024" y="677570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High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94A3B8"/>
                </a:solidFill>
              </a:rPr>
              <a:t>UX STRATEGY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64008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3474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Design Philosophy: Effort Should Feel Effortless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97480" y="10332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7D2FE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417320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15-Second Log Rule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728216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Every session log must reach POST /sessions in ≤15s. Timer modal pre-fills last subject. Date defaults to today. Mood is the only decision point.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10332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7D2FE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1417320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Mobile-Bottom-Sheet Pattern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1728216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All modals slide up from bottom on mobile (items-end sm:items-center). Body scroll locked. 44px tap targets. No zoom on input focus. Bottom nav clearance: pb-24.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960120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75320" y="10332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7D2FE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2200" y="1417320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Dashboard = Single Source of Truth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1728216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Streak · goal ring · heatmap · exam countdown · recent sessions. Users should never need to leave Dashboard to know if today was a good study day.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532888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97480" y="2606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7D2FE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" y="2990088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Leaderboard as Motivation, Not Shame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3300984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Privacy-first defaults. Users opt out, not opt in, to social visibility. Leaderboard shows only friends — never strangers. No global rankings.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2532888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83280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0" y="2606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7D2FE"/>
                </a:solidFill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383280" y="2990088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Theming as Retention Signal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0" y="3300984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5 named themes × light/dark = 10 visual identities. Personalization creates emotional ownership. Theme switch target: ≥30% of users change from default.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2532888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72200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75320" y="2606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7D2FE"/>
                </a:solidFill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172200" y="2990088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Timer State Survives Everything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72200" y="3300984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Active timer persisted server-side. Tab close, refresh, crash — timer restores. Server-authoritative timestamps prevent leaderboard manipulation.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4B5E8A"/>
                </a:solidFill>
              </a:rPr>
              <a:t>BUSINESS IMPACT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E8A"/>
                </a:solidFill>
              </a:rPr>
              <a:t>10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64008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34747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Compounding Returns of Getting Retention Right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874520" cy="1097280"/>
          </a:xfrm>
          <a:prstGeom prst="rect">
            <a:avLst/>
          </a:prstGeom>
          <a:solidFill>
            <a:srgbClr val="1A2E5A"/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64008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972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7316"/>
                </a:solidFill>
              </a:rPr>
              <a:t>≥40%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16276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D7 Retention Target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1005840"/>
            <a:ext cx="2011680" cy="1097280"/>
          </a:xfrm>
          <a:prstGeom prst="rect">
            <a:avLst/>
          </a:prstGeom>
          <a:solidFill>
            <a:srgbClr val="1A2E5A"/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005840"/>
            <a:ext cx="64008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91B2"/>
                </a:solidFill>
              </a:rPr>
              <a:t>≥60%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16276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Users log ≥1 session in Week 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26280" y="1005840"/>
            <a:ext cx="2011680" cy="1097280"/>
          </a:xfrm>
          <a:prstGeom prst="rect">
            <a:avLst/>
          </a:prstGeom>
          <a:solidFill>
            <a:srgbClr val="1A2E5A"/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26280" y="1005840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≥35%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16276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Users with ≥1 friend (social lock-in)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29400" y="1005840"/>
            <a:ext cx="2011680" cy="1097280"/>
          </a:xfrm>
          <a:prstGeom prst="rect">
            <a:avLst/>
          </a:prstGeom>
          <a:solidFill>
            <a:srgbClr val="1A2E5A"/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29400" y="1005840"/>
            <a:ext cx="6400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A34A"/>
                </a:solidFill>
              </a:rPr>
              <a:t>≥25%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766560" y="16276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Weekly leaderboard viewers (3x/wk)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331720"/>
            <a:ext cx="4114800" cy="1207008"/>
          </a:xfrm>
          <a:prstGeom prst="rect">
            <a:avLst/>
          </a:prstGeom>
          <a:solidFill>
            <a:srgbClr val="1A2E5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331720"/>
            <a:ext cx="64008" cy="1207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240487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F97316"/>
                </a:solidFill>
              </a:rPr>
              <a:t>REVENUE UPSIDE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1792" y="264261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Free-to-paid conversion via premium themes + AI study plans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1792" y="29169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Institutional tier (coaching centres) unlocks B2B ARR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1792" y="319125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≥500 social connections = leaderboard caching needed → scale signal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2331720"/>
            <a:ext cx="4114800" cy="1207008"/>
          </a:xfrm>
          <a:prstGeom prst="rect">
            <a:avLst/>
          </a:prstGeom>
          <a:solidFill>
            <a:srgbClr val="1A2E5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2331720"/>
            <a:ext cx="64008" cy="1207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65192" y="240487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891B2"/>
                </a:solidFill>
              </a:rPr>
              <a:t>RETENTION &amp; ENGAGEMENT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65192" y="264261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Friend sessions + leaderboard = weekly return trigger (external commitment device)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65192" y="29169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Streak loss aversion drives daily opens during slumps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65192" y="319125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Exam countdown = built-in urgency loop until exam date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657600"/>
            <a:ext cx="4114800" cy="1207008"/>
          </a:xfrm>
          <a:prstGeom prst="rect">
            <a:avLst/>
          </a:prstGeom>
          <a:solidFill>
            <a:srgbClr val="1A2E5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657600"/>
            <a:ext cx="64008" cy="1207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373075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16A34A"/>
                </a:solidFill>
              </a:rPr>
              <a:t>COST REDUCTION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1792" y="39684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Security-answer reset removes email infra dependency in v1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1792" y="424281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Stateless Go API + pgxpool → horizontal scale without re-architecture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1792" y="45171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Capacitor wrapper = one codebase for Android + iOS (future)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3657600"/>
            <a:ext cx="4114800" cy="1207008"/>
          </a:xfrm>
          <a:prstGeom prst="rect">
            <a:avLst/>
          </a:prstGeom>
          <a:solidFill>
            <a:srgbClr val="1A2E5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3657600"/>
            <a:ext cx="64008" cy="1207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373075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7C3AED"/>
                </a:solidFill>
              </a:rPr>
              <a:t>NETWORK EFFECTS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965192" y="39684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Each new user expands the leaderboard for existing friends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965192" y="424281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Friend sessions create multi-user session data for future AI plans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65192" y="45171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Public profiles drive referral: students share study stats on social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94A3B8"/>
                </a:solidFill>
              </a:rPr>
              <a:t>METRICS FRAMEWORK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64008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3474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From North Star to Guardrails — What We Measure and Why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solidFill>
            <a:srgbClr val="FFF7ED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73152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05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97316"/>
                </a:solidFill>
              </a:rPr>
              <a:t>⭐  NORTH STAR  —  Weekly Active Studiers (WAS)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29844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Users who log ≥3 study sessions in a given week. Captures habit formation (not just install) and is a leading indicator of retention + social adoption.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2651760" cy="3108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933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INPUT METRICS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2651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225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Sessions/active user/week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578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≥4 sessions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816352"/>
            <a:ext cx="265176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34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Timer vs manual log ratio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0906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≥40% timer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328416"/>
            <a:ext cx="2651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467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Weekly goal set rate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6027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≥70% actives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265176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58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Friend adoption rate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≥35% have ≥1 friend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352544"/>
            <a:ext cx="2651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370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Leaderboard view rate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4626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≥25% view 3x/wk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0" y="1993392"/>
            <a:ext cx="265176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19933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RETENTION METRICS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2304288"/>
            <a:ext cx="2651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23225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D7 retention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83280" y="2578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≥40%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91840" y="2816352"/>
            <a:ext cx="265176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2834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D30 retention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83280" y="30906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≥25% (target)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1840" y="3328416"/>
            <a:ext cx="2651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33467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Streak ≥7 days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383280" y="36027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≥20% of actives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3840480"/>
            <a:ext cx="265176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3858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Goal completion rate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383280" y="41148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≥50% of goal-setters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91840" y="4352544"/>
            <a:ext cx="2651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0" y="4370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Exam goal set rate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383280" y="4626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≥50% of actives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26480" y="1993392"/>
            <a:ext cx="2651760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19933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GUARDRAIL METRICS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26480" y="2304288"/>
            <a:ext cx="2651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23225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API p95 latency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17920" y="2578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&lt; 300ms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26480" y="2816352"/>
            <a:ext cx="265176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0" y="2834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Session log error rate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17920" y="30906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&lt; 0.5%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126480" y="3328416"/>
            <a:ext cx="2651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0" y="33467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Privacy complaint rate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217920" y="36027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&lt; 0.1%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126480" y="3840480"/>
            <a:ext cx="265176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0" y="3858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App crash rate (Android)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217920" y="41148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&lt; 1%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26480" y="4352544"/>
            <a:ext cx="2651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17920" y="4370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Rate limit hits (429s)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217920" y="4626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&lt; 0.05% of req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4B5E8A"/>
                </a:solidFill>
              </a:rPr>
              <a:t>GO-TO-MARKET STRATEGY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E8A"/>
                </a:solidFill>
              </a:rPr>
              <a:t>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64008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34747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Seed → Social → Scale: A Three-Phase GTM Motion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2697480" cy="3913632"/>
          </a:xfrm>
          <a:prstGeom prst="rect">
            <a:avLst/>
          </a:prstGeom>
          <a:solidFill>
            <a:srgbClr val="1A2E5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60120"/>
            <a:ext cx="2697480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96012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1 · Months 1–3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" y="138988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Seed Distribution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170992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</a:rPr>
              <a:t>CHANNELS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66928" y="192024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UPSC / CAT study groups (Telegram, WhatsApp)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222199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Reddit: r/UPSC, r/CATprep, r/GATEprep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252374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Web app as zero-friction demo (no install)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6928" y="285292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</a:rPr>
              <a:t>ACTIVATION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66928" y="306324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First session logged in ≤5 min of signup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336499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Subject + exam goal set in onboarding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366674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Google OAuth → 1-tap start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4315968"/>
            <a:ext cx="2487168" cy="438912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31596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🎯 500 WAS by Day 90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10128" y="960120"/>
            <a:ext cx="2697480" cy="3913632"/>
          </a:xfrm>
          <a:prstGeom prst="rect">
            <a:avLst/>
          </a:prstGeom>
          <a:solidFill>
            <a:srgbClr val="1A2E5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0128" y="960120"/>
            <a:ext cx="269748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9856" y="96012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2 · Months 3–6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19856" y="138988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Social Flywheel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19856" y="170992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</a:rPr>
              <a:t>CHANNELS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19856" y="192024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Friend referrals via public profile share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19856" y="222199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Leaderboard screenshots on Instagram/Twitter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19856" y="252374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Play Store ASO: 'study tracker India'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19856" y="285292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</a:rPr>
              <a:t>ACTIVATION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19856" y="306324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Friend request sent in first 48h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19856" y="336499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Shared session with ≥1 friend in Week 1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19856" y="366674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Leaderboard rank visible on public profile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19856" y="4315968"/>
            <a:ext cx="2487168" cy="438912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431596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🎯 3,000 WAS · Avg 3 friends/user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63056" y="960120"/>
            <a:ext cx="2697480" cy="3913632"/>
          </a:xfrm>
          <a:prstGeom prst="rect">
            <a:avLst/>
          </a:prstGeom>
          <a:solidFill>
            <a:srgbClr val="1A2E5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63056" y="960120"/>
            <a:ext cx="269748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72784" y="96012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3 · Months 6–12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72784" y="138988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Scale &amp; Monetise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72784" y="170992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</a:rPr>
              <a:t>CHANNELS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272784" y="192024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iOS App Store launch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72784" y="222199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Coaching centre partnerships (institutional tier)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72784" y="252374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AI study plan as premium upsell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72784" y="285292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</a:rPr>
              <a:t>ACTIVATION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272784" y="306324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Push notifications: streak + friend alerts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72784" y="336499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Premium theme unlock as conversion trigger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72784" y="366674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·  CSV export → data portability builds trust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72784" y="4315968"/>
            <a:ext cx="2487168" cy="438912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27648" y="431596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🎯 ₹ MRR positive · 10,000+ WAS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94A3B8"/>
                </a:solidFill>
              </a:rPr>
              <a:t>RISKS &amp; TRADEOFFS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64008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3474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Known Gaps. Clear Mitigations. No Surprises.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77724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960120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Category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234440" y="960120"/>
            <a:ext cx="292608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9304" y="96012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Risk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60520" y="960120"/>
            <a:ext cx="64008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15384" y="96012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Severity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00600" y="960120"/>
            <a:ext cx="37033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5464" y="960120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Mitigation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1234440"/>
            <a:ext cx="777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123444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Adoption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234440" y="1234440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9304" y="12344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Users don't log consistently — habit not formed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60520" y="1234440"/>
            <a:ext cx="640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15384" y="123444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HIGH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00600" y="1234440"/>
            <a:ext cx="3703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55464" y="123444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Sub-15s log rule + streak loss aversion + push notifications (Phase 2)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1673352"/>
            <a:ext cx="77724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1673352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Technical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234440" y="1673352"/>
            <a:ext cx="29260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9304" y="167335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No email verification → fake accounts, spam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60520" y="1673352"/>
            <a:ext cx="6400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15384" y="167335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MED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00600" y="1673352"/>
            <a:ext cx="370332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55464" y="167335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Security-answer reset works in v1; email verification queued for security hardening sprint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2112264"/>
            <a:ext cx="777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" y="2112264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Technical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234440" y="2112264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89304" y="211226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Leaderboard week boundary mismatch for IST users (UTC vs UTC+5:30)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60520" y="2112264"/>
            <a:ext cx="640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15384" y="211226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MED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00600" y="2112264"/>
            <a:ext cx="3703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55464" y="211226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Timezone-aware leaderboard in Phase 3; 5.5hr gap is visible only late Sunday night IST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2551176"/>
            <a:ext cx="77724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" y="2551176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Product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234440" y="2551176"/>
            <a:ext cx="29260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89304" y="255117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Strategy Dashboard spec incomplete — risk of shipping half-baked AI feature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160520" y="2551176"/>
            <a:ext cx="6400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15384" y="255117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MED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00600" y="2551176"/>
            <a:ext cx="370332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5464" y="255117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Gated behind preference flag. Zero user-facing surface until spec is finalized and tested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2990088"/>
            <a:ext cx="777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" y="2990088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Scale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234440" y="2990088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89304" y="299008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No Redis cache — leaderboard SQL query degrades at &gt;500 friends/user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160520" y="2990088"/>
            <a:ext cx="640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15384" y="299008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LOW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800600" y="2990088"/>
            <a:ext cx="3703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55464" y="2990088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Redis caching queued. Metric: add when avg friend count exceeds 50 (currently: 0)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7200" y="3429000"/>
            <a:ext cx="77724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2064" y="342900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Platform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234440" y="3429000"/>
            <a:ext cx="29260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289304" y="34290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iOS not published — misses ~30% of aspirant demographic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160520" y="3429000"/>
            <a:ext cx="6400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15384" y="342900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LOW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800600" y="3429000"/>
            <a:ext cx="370332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55464" y="342900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Capacitor iOS bundle ready; submit to App Store at Month 4 (post-Android traction proof)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57200" y="3867912"/>
            <a:ext cx="777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2064" y="3867912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Privacy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234440" y="3867912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289304" y="386791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Public-by-default profiles may expose session data to unintended audiences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160520" y="3867912"/>
            <a:ext cx="640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15384" y="386791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MED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800600" y="3867912"/>
            <a:ext cx="3703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55464" y="386791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Privacy settings accessible from onboarding; showStats + profilePublic toggles are first-class UI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57200" y="4306824"/>
            <a:ext cx="77724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2064" y="4306824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Infra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1234440" y="4306824"/>
            <a:ext cx="29260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289304" y="430682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Render free-tier cold starts → poor first impression for new users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160520" y="4306824"/>
            <a:ext cx="6400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215384" y="430682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MED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800600" y="4306824"/>
            <a:ext cx="370332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55464" y="430682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Upgrade to Render paid tier at 100+ DAU; warm-up cron job in interim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94A3B8"/>
                </a:solidFill>
              </a:rPr>
              <a:t>ROADMAP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14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64008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3474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Four Phases. One Coherent Arc.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8229600" cy="4572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✅ SHIPPED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07008"/>
            <a:ext cx="1993392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98448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Phase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572768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MVP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62456" y="2377440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3347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 Auth (Email + Google OAuth)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03580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 Session logging (timer + manual)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43814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 Dashboard · Insights · Subjects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 Achievements · Themes (5 palettes)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24281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 Android (Capacitor) + Web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60320" y="96012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✅ SHIPPED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60320" y="1207008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0" y="1207008"/>
            <a:ext cx="1993392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1298448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Phase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51760" y="1572768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Social Layer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65576" y="2377440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263347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 Friends · Discover · Requests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60320" y="303580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 Weekly leaderboard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60320" y="343814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 Friend sessions (shared logging)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60320" y="384048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 Public profiles + privacy controls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63440" y="96012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97316"/>
                </a:solidFill>
              </a:rPr>
              <a:t>🔄 IN PROGRESS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663440" y="1207008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1207008"/>
            <a:ext cx="1993392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298448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Phase 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1572768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Intelligence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68696" y="2377440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63347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 Strategy Dashboard (gated beta)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63440" y="303580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 Push notifications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63440" y="343814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 Email verification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63440" y="384048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 Subject name editing · Account deletion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66560" y="96012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C3AED"/>
                </a:solidFill>
              </a:rPr>
              <a:t>🗺 ROADMAP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766560" y="1207008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66560" y="1207008"/>
            <a:ext cx="199339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1298448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Phase 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58000" y="1572768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Scale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671816" y="2377440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0" y="263347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 iOS App Store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766560" y="303580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 AI study plan (Claude/GPT)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766560" y="343814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 Offline mode + sync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766560" y="384048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 Group study rooms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766560" y="424281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 Institutional / team tier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97316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</a:rPr>
              <a:t>WHY THIS WINS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8046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Karma Yogi is not another timer app.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444752"/>
            <a:ext cx="7772400" cy="530352"/>
          </a:xfrm>
          <a:prstGeom prst="rect">
            <a:avLst/>
          </a:prstGeom>
          <a:solidFill>
            <a:srgbClr val="1A2E5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44752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61872" y="1444752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Laser-focused ICP: 10M+ Indian aspirants with intense, recurring study needs and high referral density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2048256"/>
            <a:ext cx="7772400" cy="530352"/>
          </a:xfrm>
          <a:prstGeom prst="rect">
            <a:avLst/>
          </a:prstGeom>
          <a:solidFill>
            <a:srgbClr val="1A2E5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48256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1872" y="2048256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Compounding lock-in: social graph + streak data + exam countdown create a moat no timer app has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651760"/>
            <a:ext cx="7772400" cy="530352"/>
          </a:xfrm>
          <a:prstGeom prst="rect">
            <a:avLst/>
          </a:prstGeom>
          <a:solidFill>
            <a:srgbClr val="1A2E5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5176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1872" y="2651760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Execution clarity: MVP is shipped, Phase 2 is live — this is a scaling ask, not a build ask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3255264"/>
            <a:ext cx="7772400" cy="530352"/>
          </a:xfrm>
          <a:prstGeom prst="rect">
            <a:avLst/>
          </a:prstGeom>
          <a:solidFill>
            <a:srgbClr val="1A2E5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255264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61872" y="3255264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Disciplined scope: gated Strategy Dashboard and offline mode show tradeoff awareness, not feature creep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3858768"/>
            <a:ext cx="7772400" cy="530352"/>
          </a:xfrm>
          <a:prstGeom prst="rect">
            <a:avLst/>
          </a:prstGeom>
          <a:solidFill>
            <a:srgbClr val="1A2E5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58768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61872" y="3858768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Clear monetisation arc: free → premium themes → AI plans → institutional tier — each unlocks at the right scale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4553712"/>
            <a:ext cx="777240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55371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B3D"/>
                </a:solidFill>
              </a:rPr>
              <a:t>Approval Ask:  Greenlight Phase 3 (push notifications, email verification, Strategy Dashboard) and budget for iOS App Store submission.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Karma Yogi — Product Deck</dc:title>
  <dc:subject>PptxGenJS Presentation</dc:subject>
  <dc:creator>Anish Guruvelli</dc:creator>
  <cp:lastModifiedBy>Anish Guruvelli</cp:lastModifiedBy>
  <cp:revision>1</cp:revision>
  <dcterms:created xsi:type="dcterms:W3CDTF">2026-05-14T20:43:21Z</dcterms:created>
  <dcterms:modified xsi:type="dcterms:W3CDTF">2026-05-14T20:43:21Z</dcterms:modified>
</cp:coreProperties>
</file>